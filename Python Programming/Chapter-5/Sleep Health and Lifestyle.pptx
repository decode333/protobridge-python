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60" r:id="rId5"/>
    <p:sldId id="262" r:id="rId6"/>
    <p:sldId id="268" r:id="rId7"/>
    <p:sldId id="264" r:id="rId8"/>
    <p:sldId id="265" r:id="rId9"/>
    <p:sldId id="267" r:id="rId10"/>
    <p:sldId id="269" r:id="rId11"/>
    <p:sldId id="266" r:id="rId12"/>
    <p:sldId id="270" r:id="rId13"/>
    <p:sldId id="271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44561-D119-404C-BC47-08BDE3659812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5612B-2CD5-460D-BD72-C221A3F45B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70749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44561-D119-404C-BC47-08BDE3659812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5612B-2CD5-460D-BD72-C221A3F45B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56059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44561-D119-404C-BC47-08BDE3659812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5612B-2CD5-460D-BD72-C221A3F45B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19622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44561-D119-404C-BC47-08BDE3659812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5612B-2CD5-460D-BD72-C221A3F45B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08957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44561-D119-404C-BC47-08BDE3659812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5612B-2CD5-460D-BD72-C221A3F45B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7191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44561-D119-404C-BC47-08BDE3659812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5612B-2CD5-460D-BD72-C221A3F45B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10708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44561-D119-404C-BC47-08BDE3659812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5612B-2CD5-460D-BD72-C221A3F45B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92274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44561-D119-404C-BC47-08BDE3659812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5612B-2CD5-460D-BD72-C221A3F45B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53635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CC844561-D119-404C-BC47-08BDE3659812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AE45612B-2CD5-460D-BD72-C221A3F45B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72844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44561-D119-404C-BC47-08BDE3659812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5612B-2CD5-460D-BD72-C221A3F45B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85824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44561-D119-404C-BC47-08BDE3659812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5612B-2CD5-460D-BD72-C221A3F45B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57431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44561-D119-404C-BC47-08BDE3659812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5612B-2CD5-460D-BD72-C221A3F45B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49902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44561-D119-404C-BC47-08BDE3659812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5612B-2CD5-460D-BD72-C221A3F45B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15793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44561-D119-404C-BC47-08BDE3659812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5612B-2CD5-460D-BD72-C221A3F45B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76538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44561-D119-404C-BC47-08BDE3659812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5612B-2CD5-460D-BD72-C221A3F45B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43862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44561-D119-404C-BC47-08BDE3659812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5612B-2CD5-460D-BD72-C221A3F45B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32898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844561-D119-404C-BC47-08BDE3659812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5612B-2CD5-460D-BD72-C221A3F45B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19857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CC844561-D119-404C-BC47-08BDE3659812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AE45612B-2CD5-460D-BD72-C221A3F45B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151342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DE1520-DC6E-1B97-1115-E96CA8EAC23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Sleep Health and Lifestyle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DFD516-4D67-631B-26A2-A05A17123F7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EDA &amp; Key Findings</a:t>
            </a:r>
          </a:p>
        </p:txBody>
      </p:sp>
    </p:spTree>
    <p:extLst>
      <p:ext uri="{BB962C8B-B14F-4D97-AF65-F5344CB8AC3E}">
        <p14:creationId xmlns:p14="http://schemas.microsoft.com/office/powerpoint/2010/main" val="22216212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0F77F6-4FEF-B833-A19B-92BA1FE97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IN" b="1" dirty="0"/>
              <a:t>About</a:t>
            </a:r>
            <a:r>
              <a:rPr lang="en-IN" b="1" dirty="0">
                <a:solidFill>
                  <a:srgbClr val="000000"/>
                </a:solidFill>
              </a:rPr>
              <a:t> </a:t>
            </a:r>
            <a:r>
              <a:rPr lang="en-IN" b="1" dirty="0"/>
              <a:t>The Dataset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2C83C6-A329-835D-E4AC-6827E2442E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 dataset has 374 records after cleaning.</a:t>
            </a:r>
          </a:p>
          <a:p>
            <a:r>
              <a:rPr lang="en-IN" dirty="0"/>
              <a:t>The dataset has measurable features that can be compared against the sleep health features.</a:t>
            </a:r>
          </a:p>
          <a:p>
            <a:r>
              <a:rPr lang="en-IN" dirty="0"/>
              <a:t>Also, the dataset has the categorical features involving different occupation of the people and the sleep disorders.</a:t>
            </a:r>
          </a:p>
        </p:txBody>
      </p:sp>
    </p:spTree>
    <p:extLst>
      <p:ext uri="{BB962C8B-B14F-4D97-AF65-F5344CB8AC3E}">
        <p14:creationId xmlns:p14="http://schemas.microsoft.com/office/powerpoint/2010/main" val="1892383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82160E-1F61-8AE2-BF0C-0FE890775F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Data Preparation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2FABB4-AE93-7F32-5B07-AA4FC9E78E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SzPct val="100000"/>
            </a:pPr>
            <a:r>
              <a:rPr lang="en-US" dirty="0"/>
              <a:t>Blood pressure split into Systolic and Diastolic columns</a:t>
            </a:r>
          </a:p>
          <a:p>
            <a:pPr>
              <a:buSzPct val="100000"/>
            </a:pPr>
            <a:r>
              <a:rPr lang="en-US" dirty="0"/>
              <a:t>Sleep Disorder duplicate values mapped against Healthy</a:t>
            </a:r>
          </a:p>
          <a:p>
            <a:pPr>
              <a:buSzPct val="100000"/>
            </a:pPr>
            <a:r>
              <a:rPr lang="en-US" dirty="0"/>
              <a:t>BMI categories standardized</a:t>
            </a:r>
          </a:p>
          <a:p>
            <a:endParaRPr lang="en-IN" dirty="0">
              <a:solidFill>
                <a:schemeClr val="tx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51850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D9747-CFFE-4D07-BF69-5DA68ED844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62866"/>
            <a:ext cx="10515600" cy="1325563"/>
          </a:xfrm>
        </p:spPr>
        <p:txBody>
          <a:bodyPr/>
          <a:lstStyle/>
          <a:p>
            <a:r>
              <a:rPr lang="en-IN" b="1" dirty="0"/>
              <a:t>Key Findings…</a:t>
            </a:r>
          </a:p>
        </p:txBody>
      </p:sp>
    </p:spTree>
    <p:extLst>
      <p:ext uri="{BB962C8B-B14F-4D97-AF65-F5344CB8AC3E}">
        <p14:creationId xmlns:p14="http://schemas.microsoft.com/office/powerpoint/2010/main" val="41621170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5271C1-D0BA-AD69-9DBF-0B5FFF2DD9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87037B-2AC5-1FDD-39BF-BA49C3DA60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4742" y="4657156"/>
            <a:ext cx="5779340" cy="1779495"/>
          </a:xfrm>
        </p:spPr>
        <p:txBody>
          <a:bodyPr/>
          <a:lstStyle/>
          <a:p>
            <a:r>
              <a:rPr lang="en-US" dirty="0"/>
              <a:t>Gender distribution is nearly balanced</a:t>
            </a:r>
          </a:p>
          <a:p>
            <a:r>
              <a:rPr lang="en-US" dirty="0"/>
              <a:t>Age spread covers adult population broadly</a:t>
            </a:r>
          </a:p>
          <a:p>
            <a:r>
              <a:rPr lang="en-US" dirty="0"/>
              <a:t>Dataset suitable for comparative analysis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183107-098E-110C-7517-3B9E0961B8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13" y="1636198"/>
            <a:ext cx="4222618" cy="270706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B817A29-6520-4376-82A4-10B20FE971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6635" y="1631156"/>
            <a:ext cx="4350776" cy="2712104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F5C64819-2F52-7C96-146A-048420C5701F}"/>
              </a:ext>
            </a:extLst>
          </p:cNvPr>
          <p:cNvSpPr txBox="1">
            <a:spLocks/>
          </p:cNvSpPr>
          <p:nvPr/>
        </p:nvSpPr>
        <p:spPr>
          <a:xfrm>
            <a:off x="1141413" y="546847"/>
            <a:ext cx="9905998" cy="6544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kern="1200" cap="all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6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b="1"/>
              <a:t>Age &amp; gender distribution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464994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7F3D08-DBF9-77C5-BE1D-65265FB1BC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F9B2A3C-DB63-254B-F940-8B859CC1D4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41190" y="1636198"/>
            <a:ext cx="4023064" cy="270706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A9AA84E-C4C3-D117-24EA-B7B40AADB9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883747" y="1631156"/>
            <a:ext cx="3976551" cy="2712104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5639C0AB-D6AA-486F-6EE2-92157F4CB138}"/>
              </a:ext>
            </a:extLst>
          </p:cNvPr>
          <p:cNvSpPr txBox="1">
            <a:spLocks/>
          </p:cNvSpPr>
          <p:nvPr/>
        </p:nvSpPr>
        <p:spPr>
          <a:xfrm>
            <a:off x="1141413" y="546847"/>
            <a:ext cx="9905998" cy="6544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kern="1200" cap="all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6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b="1" dirty="0"/>
              <a:t>Sleep Disorder Analysis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BDCB92D-261D-3F4B-CC32-B270E47AD4DC}"/>
              </a:ext>
            </a:extLst>
          </p:cNvPr>
          <p:cNvSpPr txBox="1">
            <a:spLocks/>
          </p:cNvSpPr>
          <p:nvPr/>
        </p:nvSpPr>
        <p:spPr>
          <a:xfrm>
            <a:off x="3204742" y="4657156"/>
            <a:ext cx="5779340" cy="17794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  <a:defRPr sz="2000" kern="12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  <a:defRPr sz="1800" kern="12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  <a:defRPr sz="1600" kern="12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  <a:defRPr sz="1400" kern="12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  <a:defRPr sz="1400" kern="12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sm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Healthy individuals form the largest group</a:t>
            </a:r>
          </a:p>
          <a:p>
            <a:r>
              <a:rPr lang="en-US" dirty="0"/>
              <a:t>Insomnia and Sleep Apnea are significant subsets</a:t>
            </a:r>
          </a:p>
          <a:p>
            <a:r>
              <a:rPr lang="en-US" dirty="0"/>
              <a:t>Sleep disorders warrant deeper lifestyle correlation analysis</a:t>
            </a:r>
          </a:p>
          <a:p>
            <a:r>
              <a:rPr lang="en-US" dirty="0"/>
              <a:t>The women are more affected with sleep disorders comparatively to men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9469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2ACF97-5B58-615B-32A8-37C5EF6D45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8C6A68-6841-5CE8-1042-3FD15294CA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4742" y="4657156"/>
            <a:ext cx="5779340" cy="1779495"/>
          </a:xfrm>
        </p:spPr>
        <p:txBody>
          <a:bodyPr/>
          <a:lstStyle/>
          <a:p>
            <a:r>
              <a:rPr lang="en-US" dirty="0"/>
              <a:t>Normal BMI is the dominant category</a:t>
            </a:r>
          </a:p>
          <a:p>
            <a:r>
              <a:rPr lang="en-US" dirty="0"/>
              <a:t>Overweight group represents a large share</a:t>
            </a:r>
          </a:p>
          <a:p>
            <a:r>
              <a:rPr lang="en-US" dirty="0"/>
              <a:t>Obesity appears linked with poorer health indicators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E45A5E3-4DEB-AF34-5974-7127DEC9A5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17930" y="1641240"/>
            <a:ext cx="2669314" cy="270706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CCB8471-D676-85F9-2E5B-5C82841B77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18814" y="1636198"/>
            <a:ext cx="4555256" cy="2712104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0C5F414B-B834-779A-647E-BFA8F9CE555F}"/>
              </a:ext>
            </a:extLst>
          </p:cNvPr>
          <p:cNvSpPr txBox="1">
            <a:spLocks/>
          </p:cNvSpPr>
          <p:nvPr/>
        </p:nvSpPr>
        <p:spPr>
          <a:xfrm>
            <a:off x="1141413" y="546847"/>
            <a:ext cx="9905998" cy="6544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kern="1200" cap="all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6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b="1" dirty="0" err="1"/>
              <a:t>Bmi</a:t>
            </a:r>
            <a:r>
              <a:rPr lang="en-US" b="1" dirty="0"/>
              <a:t> distribution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058473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4D6C02-64A8-6C71-9A2F-6B250D79A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AFAF50-0EBC-21AE-F9C1-D8AEBDE76E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9598" y="4648191"/>
            <a:ext cx="4729023" cy="1779495"/>
          </a:xfrm>
        </p:spPr>
        <p:txBody>
          <a:bodyPr>
            <a:normAutofit lnSpcReduction="10000"/>
          </a:bodyPr>
          <a:lstStyle/>
          <a:p>
            <a:r>
              <a:rPr lang="en-US" dirty="0"/>
              <a:t>Positive relationship observed</a:t>
            </a:r>
          </a:p>
          <a:p>
            <a:r>
              <a:rPr lang="en-US" dirty="0"/>
              <a:t>Longer sleep generally corresponds to better sleep quality</a:t>
            </a:r>
          </a:p>
          <a:p>
            <a:r>
              <a:rPr lang="en-US" dirty="0"/>
              <a:t>Poor sleepers cluster around lower sleep duration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AA6FCCD-EF15-E457-AAD8-9027B19ED9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85104" y="1636198"/>
            <a:ext cx="4135236" cy="270706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E0657D6-31B1-B06C-AF6D-E806C3535C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800554" y="1631156"/>
            <a:ext cx="4142938" cy="2712104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81F2E90A-A76A-834D-CCB5-F776CDEFEE9B}"/>
              </a:ext>
            </a:extLst>
          </p:cNvPr>
          <p:cNvSpPr txBox="1">
            <a:spLocks/>
          </p:cNvSpPr>
          <p:nvPr/>
        </p:nvSpPr>
        <p:spPr>
          <a:xfrm>
            <a:off x="1141413" y="546847"/>
            <a:ext cx="9905998" cy="6544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kern="1200" cap="all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6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b="1" dirty="0"/>
              <a:t>Sleep Duration vs Sleep Quality &amp; stress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ED6E10-58F8-CA1B-BD96-E21EFFB1AC6A}"/>
              </a:ext>
            </a:extLst>
          </p:cNvPr>
          <p:cNvSpPr txBox="1"/>
          <p:nvPr/>
        </p:nvSpPr>
        <p:spPr>
          <a:xfrm>
            <a:off x="6632295" y="4648191"/>
            <a:ext cx="5201117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SzPct val="100000"/>
              <a:buChar char="•"/>
            </a:pPr>
            <a:r>
              <a:rPr lang="en-US" sz="2000" cap="small" dirty="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Higher stress associated with lower sleep quality</a:t>
            </a:r>
          </a:p>
          <a:p>
            <a:pPr marL="228600" indent="-228600">
              <a:buSzPct val="100000"/>
              <a:buChar char="•"/>
            </a:pPr>
            <a:r>
              <a:rPr lang="en-US" sz="2000" cap="small" dirty="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Stress is a major lifestyle factor affecting sleep</a:t>
            </a:r>
          </a:p>
          <a:p>
            <a:pPr marL="228600" indent="-228600">
              <a:buSzPct val="100000"/>
              <a:buChar char="•"/>
            </a:pPr>
            <a:r>
              <a:rPr lang="en-US" sz="2000" cap="small" dirty="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Potential target for intervention</a:t>
            </a:r>
          </a:p>
        </p:txBody>
      </p:sp>
    </p:spTree>
    <p:extLst>
      <p:ext uri="{BB962C8B-B14F-4D97-AF65-F5344CB8AC3E}">
        <p14:creationId xmlns:p14="http://schemas.microsoft.com/office/powerpoint/2010/main" val="12170418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D20016-0082-A5C6-6D40-D460C399EE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DB33F2-1ED0-8CE9-26F6-B694894338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68882" y="4935071"/>
            <a:ext cx="6737117" cy="1779495"/>
          </a:xfrm>
        </p:spPr>
        <p:txBody>
          <a:bodyPr>
            <a:normAutofit/>
          </a:bodyPr>
          <a:lstStyle/>
          <a:p>
            <a:r>
              <a:rPr lang="en-US" dirty="0"/>
              <a:t>The study shows that the person with more physical activity has a better sleeping time.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356B16-8B66-B146-766E-DAAFA280AC1B}"/>
              </a:ext>
            </a:extLst>
          </p:cNvPr>
          <p:cNvSpPr txBox="1">
            <a:spLocks/>
          </p:cNvSpPr>
          <p:nvPr/>
        </p:nvSpPr>
        <p:spPr>
          <a:xfrm>
            <a:off x="1141413" y="546847"/>
            <a:ext cx="9905998" cy="6544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kern="1200" cap="all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6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b="1" dirty="0"/>
              <a:t>Physical activity vs sleep duration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23B7235-141C-3F3A-8624-A4F6D5B54D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79812" y="1201271"/>
            <a:ext cx="8050306" cy="4150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17691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89F383-253E-C711-F275-6ED635B07F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F4A039-2126-4067-F410-AB4CB30365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68882" y="4935071"/>
            <a:ext cx="6737117" cy="1779495"/>
          </a:xfrm>
        </p:spPr>
        <p:txBody>
          <a:bodyPr>
            <a:normAutofit/>
          </a:bodyPr>
          <a:lstStyle/>
          <a:p>
            <a:r>
              <a:rPr lang="en-US" dirty="0"/>
              <a:t>Older groups tend to show higher systolic pressure</a:t>
            </a:r>
          </a:p>
          <a:p>
            <a:r>
              <a:rPr lang="en-US" dirty="0"/>
              <a:t>After the age of 35 there are high chances of a person affected with high blood pressure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E943BF1-E8A9-806B-04EB-A9D2D295D3CF}"/>
              </a:ext>
            </a:extLst>
          </p:cNvPr>
          <p:cNvSpPr txBox="1">
            <a:spLocks/>
          </p:cNvSpPr>
          <p:nvPr/>
        </p:nvSpPr>
        <p:spPr>
          <a:xfrm>
            <a:off x="1141413" y="546847"/>
            <a:ext cx="9905998" cy="6544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kern="1200" cap="all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6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b="1" dirty="0"/>
              <a:t>Blood pressure analysis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DAC5BF7-CC9E-41C1-39EA-4AE29EBE5B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07824" y="1314613"/>
            <a:ext cx="9429750" cy="3722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33215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44472-C4EB-EE49-40CF-2E9CD637E2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D3D8C6-0AB8-3D4F-668D-2305A51D8D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4742" y="4657156"/>
            <a:ext cx="5779340" cy="1779495"/>
          </a:xfrm>
        </p:spPr>
        <p:txBody>
          <a:bodyPr>
            <a:normAutofit fontScale="92500"/>
          </a:bodyPr>
          <a:lstStyle/>
          <a:p>
            <a:r>
              <a:rPr lang="en-US" dirty="0"/>
              <a:t>Doctors, Nurses, Engineers and Teachers show differing patterns</a:t>
            </a:r>
          </a:p>
          <a:p>
            <a:r>
              <a:rPr lang="en-US" dirty="0"/>
              <a:t>Occupation influences stress and sleep duration</a:t>
            </a:r>
          </a:p>
          <a:p>
            <a:r>
              <a:rPr lang="en-US" dirty="0"/>
              <a:t>Workload likely contributes to sleep outcomes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CFD96C-2A83-87DC-CE8F-22B87A27F1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8443" y="1506071"/>
            <a:ext cx="4989323" cy="302966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EDA5980-C8F1-BD21-B84E-B7A206D920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44235" y="1506070"/>
            <a:ext cx="4820532" cy="3029661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D3E37A0A-66AD-599A-8354-235A2F8BC55A}"/>
              </a:ext>
            </a:extLst>
          </p:cNvPr>
          <p:cNvSpPr txBox="1">
            <a:spLocks/>
          </p:cNvSpPr>
          <p:nvPr/>
        </p:nvSpPr>
        <p:spPr>
          <a:xfrm>
            <a:off x="1141413" y="546847"/>
            <a:ext cx="9905998" cy="6544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kern="1200" cap="all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6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b="1" dirty="0"/>
              <a:t>Occupation insights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578462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D69D7E-657E-0A31-F030-1D1C6E3BD6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01BD37-3E99-EACB-047C-FF915A2183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244" y="1689847"/>
            <a:ext cx="4590568" cy="4110318"/>
          </a:xfrm>
        </p:spPr>
        <p:txBody>
          <a:bodyPr>
            <a:normAutofit/>
          </a:bodyPr>
          <a:lstStyle/>
          <a:p>
            <a:r>
              <a:rPr lang="en-US" dirty="0"/>
              <a:t>Sleep Duration positively correlates with Quality of Sleep</a:t>
            </a:r>
          </a:p>
          <a:p>
            <a:r>
              <a:rPr lang="en-US" dirty="0"/>
              <a:t>Stress negatively impacts sleep metrics</a:t>
            </a:r>
          </a:p>
          <a:p>
            <a:r>
              <a:rPr lang="en-US" dirty="0"/>
              <a:t>Physical activity and daily steps support better outcomes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C376AC2-1169-0514-8B27-EE936BD5904B}"/>
              </a:ext>
            </a:extLst>
          </p:cNvPr>
          <p:cNvSpPr txBox="1">
            <a:spLocks/>
          </p:cNvSpPr>
          <p:nvPr/>
        </p:nvSpPr>
        <p:spPr>
          <a:xfrm>
            <a:off x="1141413" y="546847"/>
            <a:ext cx="9905998" cy="6544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kern="1200" cap="all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6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b="1" dirty="0"/>
              <a:t>Correlation findings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E941CC7-8056-1ED5-4286-F231F84AAD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430546" y="1472779"/>
            <a:ext cx="6224209" cy="4838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2078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8AD26-9C5D-C3AF-8E37-D77F57B0D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Key Conclusions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618936-652A-1604-7C66-6F789D3B6F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Sleep quality is shaped by sleep duration, stress and activity</a:t>
            </a:r>
          </a:p>
          <a:p>
            <a:r>
              <a:rPr lang="en-US" dirty="0"/>
              <a:t>Sleep disorders are associated with poorer health measures</a:t>
            </a:r>
          </a:p>
          <a:p>
            <a:r>
              <a:rPr lang="en-US" dirty="0"/>
              <a:t>Lifestyle improvements can positively influence sleep health</a:t>
            </a:r>
          </a:p>
        </p:txBody>
      </p:sp>
    </p:spTree>
    <p:extLst>
      <p:ext uri="{BB962C8B-B14F-4D97-AF65-F5344CB8AC3E}">
        <p14:creationId xmlns:p14="http://schemas.microsoft.com/office/powerpoint/2010/main" val="71126762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sh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</TotalTime>
  <Words>319</Words>
  <Application>Microsoft Office PowerPoint</Application>
  <PresentationFormat>Widescreen</PresentationFormat>
  <Paragraphs>48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Century Gothic</vt:lpstr>
      <vt:lpstr>Mesh</vt:lpstr>
      <vt:lpstr>Sleep Health and Lifestyle</vt:lpstr>
      <vt:lpstr>About The Dataset</vt:lpstr>
      <vt:lpstr>Data Preparation</vt:lpstr>
      <vt:lpstr>Key Findings…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Key Conclusions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Nithin Raj Elangovan</dc:creator>
  <cp:lastModifiedBy>Nithin Raj Elangovan</cp:lastModifiedBy>
  <cp:revision>1</cp:revision>
  <dcterms:created xsi:type="dcterms:W3CDTF">2026-09-20T03:00:54Z</dcterms:created>
  <dcterms:modified xsi:type="dcterms:W3CDTF">2026-09-20T03:34:26Z</dcterms:modified>
</cp:coreProperties>
</file>